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3" r:id="rId3"/>
    <p:sldId id="264" r:id="rId4"/>
    <p:sldId id="265" r:id="rId5"/>
    <p:sldId id="258" r:id="rId6"/>
    <p:sldId id="262" r:id="rId7"/>
    <p:sldId id="267" r:id="rId8"/>
    <p:sldId id="266" r:id="rId9"/>
    <p:sldId id="268" r:id="rId10"/>
    <p:sldId id="269" r:id="rId11"/>
    <p:sldId id="270" r:id="rId12"/>
    <p:sldId id="271" r:id="rId13"/>
    <p:sldId id="272" r:id="rId14"/>
    <p:sldId id="260" r:id="rId15"/>
    <p:sldId id="261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34"/>
    <p:restoredTop sz="94658"/>
  </p:normalViewPr>
  <p:slideViewPr>
    <p:cSldViewPr snapToGrid="0">
      <p:cViewPr varScale="1">
        <p:scale>
          <a:sx n="101" d="100"/>
          <a:sy n="101" d="100"/>
        </p:scale>
        <p:origin x="20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0C0A0-1E40-49C0-82D8-EA6C90463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4B227CB-3A57-4156-045D-029443C78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703436-F1B2-A0DE-3662-D04C265C6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3E6F6E-5F7F-CD66-2422-5646A77DF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8A911-2419-C0FE-D906-54A733F1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790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A8540B-5C7F-0FC0-3A0B-B9CBC782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en-CA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E896-EEDA-BE60-CAE2-18A81FAC7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B4F4F6-7DE9-8470-F0E2-3E64D29A3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8BDA40-0F0C-D7CC-D893-144422ED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71FA16-28B9-3784-A085-88DD7FA27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420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51F67-9F62-1575-14B3-E1DF84422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92C216-0E7D-27B9-D989-3852D724E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BE67E2-D85F-2B72-7DDF-D8A1421F7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9E9D-52E2-15F0-4611-04A4E9A91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6DFE6-7868-57F5-4F59-EC80E0D6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412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19BA11-862A-7E4D-B776-421ACAFB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D0EFA2-8D05-FBAD-E1EB-0848DF29E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80678D-B2C8-C342-2275-6268DB79C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8BE6BD-F7FA-5279-EF0F-70F60384C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4818DD-627D-E942-2CDD-C1E7F65A9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5EE376-B833-D92D-08A3-2C7840744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9312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F7D8-E2E8-9DA2-8905-2DA27DD8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18FD1D-3D95-7A34-A7B3-D69BBB4C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8AFE12-22B7-08E1-05D3-919CAE091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47A8C4-9B1C-E89F-2803-4472AA112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6B6B5BC-2D0E-B72C-91CC-161D95DA3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E083620-A2B3-91EA-675F-B5CFC27EA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31CA5E3-BA35-C546-ABD1-FB5075D55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4DE5CF-14B9-0A5C-9218-FAF65D1D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182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C09C7-4E2F-737F-048B-AD5C5736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0FCE0F-96A0-6596-A9DC-2AAA8F7F1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13F4E70-B628-7230-268E-F8AF1334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DF6DA-83B1-A863-6BF0-2C707D17E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588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A114AF-647F-F4E6-F1AC-960ED820B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A6922-AB7C-728E-5B39-84F0C6440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88131-D219-E675-C11C-C0E3E64D8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0638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00C0A-D9AB-A140-97AB-B71972A0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D089F5-73C5-D2D6-E55D-11825EED9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8C9CBBF-2535-FCCE-974C-DED4E3A90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33B42F-D083-289F-79BD-032894CE7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72656B-58F3-4814-B199-573D22ECD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21FD18-B318-1FCA-4772-612AEAAE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4638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51F83-0EA4-31B7-55CD-69FDBA15B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B74AB96-6FF2-0736-6DBD-0342963D16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1E96FC-EDC2-F942-163A-D09807637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302054-7ADE-2FDA-4F64-BA1DD5419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1DDA5B-0657-382F-5223-D3BB9DA4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F41569-9E43-7900-F584-C543FCE4D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1550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38DA7F-7CC0-E120-111D-E2D8140AA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5AAA1B1-FF1D-E109-F099-B613E2840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0AC269-6F3B-D506-0783-306B956AB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4B19EE-DA07-EE63-A48A-FEC2F51BF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CB7D90-F10A-B282-0EE6-0729A762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238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BF44D0-FB7D-F248-2CA0-F0EE8278E2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D6A696-050F-1BDE-D0E0-E1F4689CA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165F68-308E-66D8-ECAA-7C07F52F7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9830D0-2074-4868-E76B-BF953061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48E538-1BDF-4993-C0C9-1310EF9D8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0590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82B4CBD-7ECA-2B35-03AA-05AE4C00E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CA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FC7A64-F480-2B27-5D46-BD647CAF3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8D9D88-A41E-C2FC-562D-B8E66A226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00F6BE-B067-BE42-AE82-598173A6B0F9}" type="datetimeFigureOut">
              <a:rPr lang="en-CA" smtClean="0"/>
              <a:t>2025-11-11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23EDA2-E686-16BE-CD34-847D16C46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F4CF81-CC63-16B0-8FC1-A0468631A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406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7BA45-730F-99AD-78DE-27B87917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+mn-ea"/>
                <a:ea typeface="+mn-ea"/>
              </a:rPr>
              <a:t>内容简介</a:t>
            </a:r>
            <a:endParaRPr lang="en-CA" dirty="0">
              <a:latin typeface="+mn-ea"/>
              <a:ea typeface="+mn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1D0D6-4158-6648-12E6-A94C92F36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>
                <a:latin typeface="+mj-lt"/>
              </a:rPr>
              <a:t>Legal NLP</a:t>
            </a:r>
          </a:p>
          <a:p>
            <a:pPr lvl="1"/>
            <a:r>
              <a:rPr lang="en-CA" b="1" dirty="0">
                <a:latin typeface="+mj-lt"/>
              </a:rPr>
              <a:t>LawBench</a:t>
            </a:r>
            <a:r>
              <a:rPr lang="en-CA" dirty="0">
                <a:latin typeface="+mj-lt"/>
              </a:rPr>
              <a:t>: </a:t>
            </a:r>
            <a:r>
              <a:rPr lang="en-CA" dirty="0" err="1">
                <a:latin typeface="+mn-ea"/>
              </a:rPr>
              <a:t>构建</a:t>
            </a:r>
            <a:r>
              <a:rPr lang="en-CA" b="1" dirty="0" err="1">
                <a:latin typeface="+mn-ea"/>
              </a:rPr>
              <a:t>中国成文法</a:t>
            </a:r>
            <a:r>
              <a:rPr lang="en-CA" dirty="0" err="1">
                <a:latin typeface="+mn-ea"/>
              </a:rPr>
              <a:t>场景的</a:t>
            </a:r>
            <a:r>
              <a:rPr lang="en-CA" b="1" dirty="0" err="1">
                <a:latin typeface="+mn-ea"/>
              </a:rPr>
              <a:t>多任务</a:t>
            </a:r>
            <a:r>
              <a:rPr lang="en-CA" dirty="0" err="1">
                <a:latin typeface="+mn-ea"/>
              </a:rPr>
              <a:t>法律评测基准</a:t>
            </a:r>
            <a:r>
              <a:rPr lang="zh-CN" altLang="en-US" dirty="0">
                <a:latin typeface="+mn-ea"/>
              </a:rPr>
              <a:t>，用于比较通用模型和法律模型在法律任务上的能力。</a:t>
            </a:r>
            <a:endParaRPr lang="en-CA" dirty="0">
              <a:latin typeface="+mn-ea"/>
            </a:endParaRPr>
          </a:p>
          <a:p>
            <a:pPr lvl="1"/>
            <a:r>
              <a:rPr lang="en-CA" b="1" dirty="0">
                <a:latin typeface="+mj-lt"/>
              </a:rPr>
              <a:t>QR-LJP</a:t>
            </a:r>
            <a:r>
              <a:rPr lang="en-US" dirty="0">
                <a:latin typeface="+mj-lt"/>
              </a:rPr>
              <a:t>:</a:t>
            </a:r>
            <a:r>
              <a:rPr lang="zh-CN" altLang="en-US" dirty="0">
                <a:latin typeface="+mj-lt"/>
              </a:rPr>
              <a:t> </a:t>
            </a:r>
            <a:r>
              <a:rPr lang="zh-CN" altLang="en-US" dirty="0">
                <a:latin typeface="+mn-ea"/>
              </a:rPr>
              <a:t>把案件事实中</a:t>
            </a:r>
            <a:r>
              <a:rPr lang="zh-CN" altLang="en-US" b="1" dirty="0">
                <a:latin typeface="+mn-ea"/>
              </a:rPr>
              <a:t>可量化的数值特征</a:t>
            </a:r>
            <a:r>
              <a:rPr lang="zh-CN" altLang="en-US" dirty="0">
                <a:latin typeface="+mn-ea"/>
              </a:rPr>
              <a:t>抽出来并对齐到法律量刑区间，让判决预测能够依据量化的</a:t>
            </a:r>
            <a:r>
              <a:rPr lang="zh-CN" altLang="en-US" b="1" dirty="0">
                <a:latin typeface="+mn-ea"/>
              </a:rPr>
              <a:t>犯罪严重程度</a:t>
            </a:r>
            <a:r>
              <a:rPr lang="zh-CN" altLang="en-US" dirty="0">
                <a:latin typeface="+mn-ea"/>
              </a:rPr>
              <a:t>作出判罚。</a:t>
            </a:r>
            <a:endParaRPr lang="en-US" dirty="0">
              <a:latin typeface="+mn-ea"/>
            </a:endParaRPr>
          </a:p>
          <a:p>
            <a:pPr lvl="1"/>
            <a:r>
              <a:rPr lang="en-US" b="1" dirty="0" err="1">
                <a:latin typeface="+mj-lt"/>
              </a:rPr>
              <a:t>LawShift</a:t>
            </a:r>
            <a:r>
              <a:rPr lang="en-US" dirty="0">
                <a:latin typeface="+mj-lt"/>
              </a:rPr>
              <a:t>: </a:t>
            </a:r>
            <a:r>
              <a:rPr lang="en-US" dirty="0" err="1">
                <a:latin typeface="+mn-ea"/>
              </a:rPr>
              <a:t>针对法条修订的场景测试的评测集</a:t>
            </a:r>
            <a:r>
              <a:rPr lang="zh-CN" altLang="en-US" dirty="0">
                <a:latin typeface="+mn-ea"/>
              </a:rPr>
              <a:t>，</a:t>
            </a:r>
            <a:r>
              <a:rPr lang="zh-CN" altLang="en-US" dirty="0">
                <a:latin typeface="+mj-lt"/>
              </a:rPr>
              <a:t>测试模型在法律版本变化后能否同步更新判决结果。</a:t>
            </a:r>
            <a:endParaRPr lang="en-CA" dirty="0">
              <a:latin typeface="+mj-lt"/>
            </a:endParaRPr>
          </a:p>
          <a:p>
            <a:r>
              <a:rPr lang="en-CA" dirty="0">
                <a:latin typeface="+mj-lt"/>
              </a:rPr>
              <a:t>Interpretable NLP</a:t>
            </a:r>
          </a:p>
          <a:p>
            <a:pPr lvl="1"/>
            <a:r>
              <a:rPr lang="en-CA" dirty="0" err="1">
                <a:latin typeface="+mn-ea"/>
              </a:rPr>
              <a:t>知识定位</a:t>
            </a:r>
            <a:r>
              <a:rPr lang="en-US" altLang="zh-CN" dirty="0">
                <a:latin typeface="+mn-ea"/>
              </a:rPr>
              <a:t>/</a:t>
            </a:r>
            <a:r>
              <a:rPr lang="zh-CN" altLang="en-US" dirty="0">
                <a:latin typeface="+mj-lt"/>
              </a:rPr>
              <a:t>定点编辑</a:t>
            </a:r>
            <a:endParaRPr lang="en-US" altLang="zh-CN" dirty="0">
              <a:latin typeface="+mj-lt"/>
            </a:endParaRPr>
          </a:p>
          <a:p>
            <a:pPr lvl="1"/>
            <a:r>
              <a:rPr lang="zh-CN" altLang="en-US" dirty="0">
                <a:latin typeface="+mj-lt"/>
              </a:rPr>
              <a:t>可解释知识的控制输出</a:t>
            </a:r>
            <a:endParaRPr lang="en-CA" dirty="0">
              <a:latin typeface="+mj-lt"/>
            </a:endParaRPr>
          </a:p>
          <a:p>
            <a:pPr lvl="1"/>
            <a:endParaRPr lang="en-CA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70281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FB3653-0E98-F0C2-8590-E643E76E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65D0D6-91D0-F5D7-271C-61C8D7E7E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动机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: </a:t>
            </a: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(1)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现有的法律基准是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Law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场景（如</a:t>
            </a:r>
            <a:r>
              <a:rPr kumimoji="1"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LegalBench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），任务和中国法系不同；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Law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强调的是对先例案件（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precedents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）的分析，而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Civil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强调的是法条适用。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全面的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中文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法律基准还有缺失。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LawBench: </a:t>
            </a: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全面的法律任务（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个），中国大陆法律场景。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中文法律基准。</a:t>
            </a:r>
          </a:p>
        </p:txBody>
      </p:sp>
    </p:spTree>
    <p:extLst>
      <p:ext uri="{BB962C8B-B14F-4D97-AF65-F5344CB8AC3E}">
        <p14:creationId xmlns:p14="http://schemas.microsoft.com/office/powerpoint/2010/main" val="1362299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1C7900-51D9-9C27-AA22-A804BC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内容占位符 15" descr="分层金字塔 轮廓">
            <a:extLst>
              <a:ext uri="{FF2B5EF4-FFF2-40B4-BE49-F238E27FC236}">
                <a16:creationId xmlns:a16="http://schemas.microsoft.com/office/drawing/2014/main" id="{3EB9BD0D-B38B-99CE-AC46-A19120890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229" y="1825625"/>
            <a:ext cx="3386667" cy="3386667"/>
          </a:xfr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4084F2D7-4551-99DC-8145-97F667D32D50}"/>
              </a:ext>
            </a:extLst>
          </p:cNvPr>
          <p:cNvGrpSpPr/>
          <p:nvPr/>
        </p:nvGrpSpPr>
        <p:grpSpPr>
          <a:xfrm>
            <a:off x="9429556" y="3123602"/>
            <a:ext cx="1544012" cy="1437439"/>
            <a:chOff x="8888460" y="3488265"/>
            <a:chExt cx="1544012" cy="1437439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216DEB5-78AA-D5A8-7DF4-F532989343AD}"/>
                </a:ext>
              </a:extLst>
            </p:cNvPr>
            <p:cNvSpPr txBox="1"/>
            <p:nvPr/>
          </p:nvSpPr>
          <p:spPr>
            <a:xfrm>
              <a:off x="9132116" y="3488265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Applying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E460388-C710-455C-43EE-FC2354209A7F}"/>
                </a:ext>
              </a:extLst>
            </p:cNvPr>
            <p:cNvSpPr txBox="1"/>
            <p:nvPr/>
          </p:nvSpPr>
          <p:spPr>
            <a:xfrm>
              <a:off x="8888460" y="4079330"/>
              <a:ext cx="1544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Understanding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EB9AAF6-9021-9E84-4BA2-BFC608EEA107}"/>
                </a:ext>
              </a:extLst>
            </p:cNvPr>
            <p:cNvSpPr txBox="1"/>
            <p:nvPr/>
          </p:nvSpPr>
          <p:spPr>
            <a:xfrm>
              <a:off x="8914108" y="4556372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Remembering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7C24EECA-8E2F-3928-26DE-2E041D45CBF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72728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任务：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设计：验证三个水平的认知能力，对应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认知结构前三层，做一个分层诊断框架。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每个任务都固定约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条测试样本，方便横向比较。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数据来源：司法考试、司法比赛、司法论坛等，如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CAIL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JEC-QA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任务类型：生成、单标签分类、多标签分类、抽取、回归等。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694780B-7139-8C89-2634-E443EEA1C746}"/>
              </a:ext>
            </a:extLst>
          </p:cNvPr>
          <p:cNvSpPr txBox="1"/>
          <p:nvPr/>
        </p:nvSpPr>
        <p:spPr>
          <a:xfrm>
            <a:off x="9189105" y="4842960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的认知结构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7F565F9-27BB-304D-3CC6-C01A49A29914}"/>
              </a:ext>
            </a:extLst>
          </p:cNvPr>
          <p:cNvSpPr txBox="1"/>
          <p:nvPr/>
        </p:nvSpPr>
        <p:spPr>
          <a:xfrm>
            <a:off x="9993812" y="26434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727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4EF14-C6CC-ACCC-369B-2DD78C7E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C5FD87-4512-5C83-0752-F75EC82B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法律任务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81F904C-6DF3-D39B-87D8-72658D75B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133" y="1825625"/>
            <a:ext cx="7772400" cy="418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93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C80B6-71DD-4962-5ECF-72E88B67B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(cont.)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F877D0-B345-7D58-CE3F-61C233CD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测评设置：</a:t>
            </a:r>
            <a:endParaRPr lang="en-CA" altLang="zh-CN" dirty="0"/>
          </a:p>
          <a:p>
            <a:pPr lvl="1"/>
            <a:r>
              <a:rPr lang="zh-CN" altLang="en-CA" dirty="0"/>
              <a:t>统一</a:t>
            </a:r>
            <a:r>
              <a:rPr lang="zh-CN" altLang="en-US" dirty="0"/>
              <a:t>使用</a:t>
            </a:r>
            <a:r>
              <a:rPr lang="en-US" altLang="zh-CN" dirty="0">
                <a:latin typeface="+mj-lt"/>
              </a:rPr>
              <a:t>OpenCompass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>
                <a:latin typeface="+mj-lt"/>
              </a:rPr>
              <a:t>Zero-shot</a:t>
            </a:r>
            <a:r>
              <a:rPr lang="zh-CN" altLang="en-US" dirty="0">
                <a:latin typeface="+mj-lt"/>
              </a:rPr>
              <a:t> </a:t>
            </a:r>
            <a:r>
              <a:rPr lang="zh-CN" altLang="en-US" dirty="0"/>
              <a:t>和 </a:t>
            </a:r>
            <a:r>
              <a:rPr lang="en-US" altLang="zh-CN" dirty="0">
                <a:latin typeface="+mj-lt"/>
              </a:rPr>
              <a:t>One-shot</a:t>
            </a:r>
            <a:r>
              <a:rPr lang="zh-CN" altLang="en-US" dirty="0"/>
              <a:t>两种提示模式。</a:t>
            </a:r>
            <a:endParaRPr lang="en-US" altLang="zh-CN" dirty="0"/>
          </a:p>
          <a:p>
            <a:pPr lvl="1"/>
            <a:r>
              <a:rPr lang="zh-CN" altLang="en-US" dirty="0"/>
              <a:t>输出要先做答案抽取再按照各任务指标算分。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73450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DFFBD4-47F6-7C9B-FA89-5F38D1848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1027CB-2FF8-B959-39A6-431A7B90B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+mn-ea"/>
                <a:cs typeface="Times New Roman" panose="02020603050405020304" pitchFamily="18" charset="0"/>
              </a:rPr>
              <a:t>测评结果</a:t>
            </a:r>
            <a:endParaRPr lang="en-CA" dirty="0"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3CE21D-F6E6-ECFC-7A00-7DF09980F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53" y="2445198"/>
            <a:ext cx="5767981" cy="40592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4D762AB-0CE8-1833-53C7-ECC2C3F19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467" y="2422120"/>
            <a:ext cx="5767981" cy="408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596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C85F84-51BC-853A-0498-D9926874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940A57-D872-20A8-EE4E-752F530D7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模型平均测试结果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7119BA7-9939-E2FF-3458-8D6EE47D6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37" y="2358166"/>
            <a:ext cx="9031925" cy="381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03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07D3C7-124E-D6A5-1A7A-FD1DAE2D1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CB00E0-96B0-E924-090A-379BC7B7A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核心发现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所有任务上的平均水平：</a:t>
            </a:r>
            <a:r>
              <a:rPr kumimoji="1" lang="en-US" altLang="zh-CN" dirty="0">
                <a:latin typeface="+mj-lt"/>
              </a:rPr>
              <a:t>Qwen-1.5-72B</a:t>
            </a:r>
            <a:r>
              <a:rPr kumimoji="1" lang="zh-CN" altLang="en-US" dirty="0"/>
              <a:t> 和 </a:t>
            </a:r>
            <a:r>
              <a:rPr kumimoji="1" lang="en-US" altLang="zh-CN" dirty="0">
                <a:latin typeface="+mj-lt"/>
              </a:rPr>
              <a:t>GPT-4</a:t>
            </a:r>
            <a:r>
              <a:rPr kumimoji="1" lang="zh-CN" altLang="en-US" dirty="0"/>
              <a:t> 是天花板选手，但是在不同任务层面互有强弱；一些法律模型只在记忆型任务里特别高。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难度较大的是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</a:t>
            </a:r>
            <a:r>
              <a:rPr kumimoji="1" lang="zh-CN" altLang="en-US" dirty="0"/>
              <a:t> 和 </a:t>
            </a:r>
            <a:r>
              <a:rPr kumimoji="1" lang="en-US" altLang="zh-CN" dirty="0">
                <a:latin typeface="+mj-lt"/>
              </a:rPr>
              <a:t>Applying</a:t>
            </a:r>
            <a:r>
              <a:rPr kumimoji="1" lang="zh-CN" altLang="en-US" dirty="0"/>
              <a:t> 层的任务，特别是需要精确出发词、精确法条匹配、冷门罪名的时候，模型间表现差距会更加参差。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通用大模型指令跟随好所以不容易乱回答，法律模型更容易</a:t>
            </a:r>
            <a:r>
              <a:rPr kumimoji="1" lang="en-US" altLang="zh-CN" dirty="0"/>
              <a:t> </a:t>
            </a:r>
            <a:r>
              <a:rPr kumimoji="1" lang="en-US" altLang="zh-CN" dirty="0">
                <a:latin typeface="+mj-lt"/>
              </a:rPr>
              <a:t>go wild</a:t>
            </a:r>
            <a:r>
              <a:rPr kumimoji="1" lang="en-US" altLang="zh-CN" dirty="0"/>
              <a:t>.</a:t>
            </a:r>
          </a:p>
          <a:p>
            <a:pPr lvl="1"/>
            <a:r>
              <a:rPr kumimoji="1" lang="zh-CN" altLang="en-US" dirty="0"/>
              <a:t>整体评价：所有模型的表现都不足以承担实际的法律咨询强度。</a:t>
            </a:r>
            <a:endParaRPr kumimoji="1" lang="en-US" altLang="zh-CN" dirty="0"/>
          </a:p>
          <a:p>
            <a:r>
              <a:rPr kumimoji="1" lang="zh-CN" altLang="en-US" dirty="0"/>
              <a:t>局限点：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用的都是公开数据，可能存在数据被模型见过的风险。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指标比如生成任务使用的 </a:t>
            </a:r>
            <a:r>
              <a:rPr kumimoji="1" lang="en-US" altLang="zh-CN" dirty="0">
                <a:latin typeface="+mj-lt"/>
              </a:rPr>
              <a:t>Rogue-L</a:t>
            </a:r>
            <a:r>
              <a:rPr kumimoji="1" lang="zh-CN" altLang="en-US" dirty="0"/>
              <a:t>，不一定足够评出最好的答案。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7716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43FAFD-69B5-53BF-BB9C-63DD4207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E92352-A8E7-D0C7-AFF6-2AE464EE2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任务：法律判决预测（</a:t>
            </a:r>
            <a:r>
              <a:rPr kumimoji="1" lang="en-US" altLang="zh-CN" dirty="0">
                <a:latin typeface="+mj-lt"/>
              </a:rPr>
              <a:t>LJP</a:t>
            </a:r>
            <a:r>
              <a:rPr kumimoji="1" lang="zh-CN" altLang="en-US" dirty="0"/>
              <a:t>）根据案件过程描述对罪名、法条、刑期作出预测（中国大陆语境里）。</a:t>
            </a:r>
            <a:endParaRPr kumimoji="1" lang="en-US" altLang="zh-CN" dirty="0"/>
          </a:p>
          <a:p>
            <a:r>
              <a:rPr kumimoji="1" lang="zh-CN" altLang="en-US" dirty="0"/>
              <a:t>现实流程：法官看事实，决定犯罪严重的程度之后量刑。现有的模型都跳过了这个量化过程。</a:t>
            </a:r>
            <a:endParaRPr kumimoji="1" lang="en-US" altLang="zh-CN" dirty="0"/>
          </a:p>
          <a:p>
            <a:endParaRPr kumimoji="1"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DF50A4-C969-EFBD-F682-EF80CD583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686" y="3803650"/>
            <a:ext cx="8334627" cy="237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515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077DEF-EC10-64DD-DB66-7623E17A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28A363-D7F9-7647-214D-88044F09D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思路：现有模型都是对文本建模。缺少对数值特征量化处理的过程。</a:t>
            </a:r>
            <a:endParaRPr kumimoji="1" lang="en-US" altLang="zh-CN" dirty="0"/>
          </a:p>
          <a:p>
            <a:r>
              <a:rPr kumimoji="1" lang="zh-CN" altLang="en-US" dirty="0"/>
              <a:t>解决方式：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先精确计算显示数值特征，以此为依据作为量化犯罪严重程度。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将量化的严重程度与法条文本对齐。</a:t>
            </a:r>
          </a:p>
        </p:txBody>
      </p:sp>
    </p:spTree>
    <p:extLst>
      <p:ext uri="{BB962C8B-B14F-4D97-AF65-F5344CB8AC3E}">
        <p14:creationId xmlns:p14="http://schemas.microsoft.com/office/powerpoint/2010/main" val="804150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D0021D-0664-6D16-9998-C11D15A77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 (cont.)</a:t>
            </a:r>
            <a:endParaRPr kumimoji="1"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C055FCE-3374-8F0C-2300-CB7EB8E2A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整体流程</a:t>
            </a:r>
          </a:p>
        </p:txBody>
      </p:sp>
      <p:pic>
        <p:nvPicPr>
          <p:cNvPr id="7" name="内容占位符 3">
            <a:extLst>
              <a:ext uri="{FF2B5EF4-FFF2-40B4-BE49-F238E27FC236}">
                <a16:creationId xmlns:a16="http://schemas.microsoft.com/office/drawing/2014/main" id="{612BDF4B-D3E8-666E-24A1-4EB08DD7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483" y="2443956"/>
            <a:ext cx="94110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004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DA11D1-17CA-36E5-7A24-8AEAB5535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F66EEE-C60B-2A42-FA54-087FDD56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实验设置：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数据集：</a:t>
            </a:r>
            <a:r>
              <a:rPr kumimoji="1" lang="en-US" altLang="zh-CN" dirty="0"/>
              <a:t>CAIL-2018</a:t>
            </a:r>
            <a:r>
              <a:rPr kumimoji="1" lang="zh-CN" altLang="en-US" dirty="0"/>
              <a:t>；</a:t>
            </a:r>
            <a:r>
              <a:rPr kumimoji="1" lang="en-US" altLang="zh-CN" dirty="0"/>
              <a:t>LAIC-2021</a:t>
            </a:r>
          </a:p>
          <a:p>
            <a:pPr lvl="1"/>
            <a:r>
              <a:rPr kumimoji="1" lang="zh-CN" altLang="en-US" dirty="0"/>
              <a:t>指标：</a:t>
            </a:r>
            <a:r>
              <a:rPr kumimoji="1" lang="en-US" altLang="zh-CN" dirty="0"/>
              <a:t>Acc / </a:t>
            </a:r>
            <a:r>
              <a:rPr kumimoji="1" lang="en-US" altLang="zh-CN" dirty="0" err="1"/>
              <a:t>MaP</a:t>
            </a:r>
            <a:r>
              <a:rPr kumimoji="1" lang="en-US" altLang="zh-CN" dirty="0"/>
              <a:t> / </a:t>
            </a:r>
            <a:r>
              <a:rPr kumimoji="1" lang="en-US" altLang="zh-CN" dirty="0" err="1"/>
              <a:t>MaR</a:t>
            </a:r>
            <a:r>
              <a:rPr kumimoji="1" lang="en-US" altLang="zh-CN" dirty="0"/>
              <a:t> / </a:t>
            </a:r>
            <a:r>
              <a:rPr kumimoji="1" lang="en-US" altLang="zh-CN" dirty="0" err="1"/>
              <a:t>MaF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基线：</a:t>
            </a:r>
            <a:r>
              <a:rPr kumimoji="1" lang="en-US" altLang="zh-CN" dirty="0" err="1"/>
              <a:t>TopJudge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NeurJudge</a:t>
            </a:r>
            <a:r>
              <a:rPr kumimoji="1" lang="en-US" altLang="zh-CN" dirty="0"/>
              <a:t>, CEEN, </a:t>
            </a:r>
            <a:r>
              <a:rPr kumimoji="1" lang="en-US" altLang="zh-CN" dirty="0" err="1"/>
              <a:t>NumSCL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Gjudge</a:t>
            </a:r>
            <a:r>
              <a:rPr kumimoji="1" lang="en-US" altLang="zh-CN" dirty="0"/>
              <a:t>, ML-LJP, </a:t>
            </a:r>
            <a:r>
              <a:rPr kumimoji="1" lang="en-US" altLang="zh-CN" dirty="0" err="1"/>
              <a:t>ChatGLM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LexiLaw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LLaMa</a:t>
            </a:r>
            <a:r>
              <a:rPr kumimoji="1" lang="en-US" altLang="zh-CN" dirty="0"/>
              <a:t>, Qwen.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5351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33666-2050-7060-BCDA-715A3DFA3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</a:t>
            </a:r>
            <a:r>
              <a:rPr kumimoji="1" lang="zh-CN" altLang="en-US" dirty="0"/>
              <a:t> </a:t>
            </a:r>
            <a:r>
              <a:rPr kumimoji="1" lang="en-US" altLang="zh-CN" dirty="0"/>
              <a:t>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2EAF73-D5BA-6465-FE88-B829FA504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主要结论：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引入定量推理机制的</a:t>
            </a:r>
            <a:r>
              <a:rPr kumimoji="1" lang="en-US" altLang="zh-CN" dirty="0"/>
              <a:t>QR-LJP</a:t>
            </a:r>
            <a:r>
              <a:rPr kumimoji="1" lang="zh-CN" altLang="en-US" dirty="0"/>
              <a:t>模型比基线模型在刑期预测任务上的表现更好。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消融实验（去掉定量推理模块）说明增益的确来源于数值特征的推理。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定量推理机制加入基线模型后又表现提升。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Oracle</a:t>
            </a:r>
            <a:r>
              <a:rPr kumimoji="1" lang="zh-CN" altLang="en-US" dirty="0"/>
              <a:t>实验说明，如果金额算的更准确一些，刑期预测上的表现还会</a:t>
            </a:r>
            <a:r>
              <a:rPr kumimoji="1" lang="zh-CN" altLang="en-US"/>
              <a:t>提高。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42809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C0DF71-BF6E-27FD-F8FD-6AC4DC03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LawShift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07CE2C-0E7C-A813-8F02-386C96D3F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动机</a:t>
            </a:r>
            <a:r>
              <a:rPr lang="zh-CN" altLang="en-US" dirty="0"/>
              <a:t>：法律会变。</a:t>
            </a:r>
            <a:endParaRPr lang="en-US" altLang="zh-CN" dirty="0"/>
          </a:p>
          <a:p>
            <a:r>
              <a:rPr lang="zh-CN" altLang="en-US" dirty="0"/>
              <a:t>思路：同一案件事实，在旧法和新法下能不能给出符合当前版本的判决结果。</a:t>
            </a:r>
            <a:endParaRPr lang="en-US" altLang="zh-CN" dirty="0"/>
          </a:p>
          <a:p>
            <a:r>
              <a:rPr lang="zh-CN" altLang="en-US" dirty="0"/>
              <a:t>设计：</a:t>
            </a:r>
            <a:endParaRPr lang="en-US" altLang="zh-CN" dirty="0"/>
          </a:p>
          <a:p>
            <a:pPr lvl="1"/>
            <a:r>
              <a:rPr lang="zh-CN" altLang="en-US" dirty="0"/>
              <a:t>蜕变测试，“模型有没有跟着新法走”。</a:t>
            </a:r>
            <a:endParaRPr lang="en-US" altLang="zh-CN" dirty="0"/>
          </a:p>
          <a:p>
            <a:pPr lvl="1"/>
            <a:r>
              <a:rPr lang="zh-CN" altLang="en-US" dirty="0"/>
              <a:t>细粒度功能点，功能点符合实际法条更新情况。</a:t>
            </a:r>
            <a:endParaRPr lang="en-US" altLang="zh-CN" dirty="0"/>
          </a:p>
          <a:p>
            <a:pPr lvl="1"/>
            <a:r>
              <a:rPr lang="zh-CN" altLang="en-US" dirty="0"/>
              <a:t>如何解决？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49852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24E9E-08B6-B96B-3385-508B3B0F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Next?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Raw!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D38D43-E894-0BC1-922D-B0A31B6C7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从LawShift来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：通过知识编辑更新模型（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Beyond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法律领域）。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知识定位。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编辑本身（有效性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局部性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可推理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可串行）。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在这个框架下：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把一次回答拆成循环：按照任务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规划原子步，激活对应知识片段（定位后的），生成一小段，并交验该步是否正确运用知识。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38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840</Words>
  <Application>Microsoft Macintosh PowerPoint</Application>
  <PresentationFormat>宽屏</PresentationFormat>
  <Paragraphs>80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Office 主题​​</vt:lpstr>
      <vt:lpstr>内容简介</vt:lpstr>
      <vt:lpstr>LawBench</vt:lpstr>
      <vt:lpstr>LawBench (cont.)</vt:lpstr>
      <vt:lpstr>LawBench (cont.)</vt:lpstr>
      <vt:lpstr>LawBench (cont.)</vt:lpstr>
      <vt:lpstr>LawBench (cont.)</vt:lpstr>
      <vt:lpstr>LawBench (cont.)</vt:lpstr>
      <vt:lpstr> LawBench (cont.)</vt:lpstr>
      <vt:lpstr>QR-LJP</vt:lpstr>
      <vt:lpstr>QR-LJP (cont.)</vt:lpstr>
      <vt:lpstr>QR-LJP (cont.)</vt:lpstr>
      <vt:lpstr>QR-LJP (cont.)</vt:lpstr>
      <vt:lpstr>QR-LJP (cont.)</vt:lpstr>
      <vt:lpstr>LawShift</vt:lpstr>
      <vt:lpstr>Next? Raw!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Zhuo</dc:creator>
  <cp:lastModifiedBy>HAN Zhuo</cp:lastModifiedBy>
  <cp:revision>28</cp:revision>
  <dcterms:created xsi:type="dcterms:W3CDTF">2025-11-07T09:01:35Z</dcterms:created>
  <dcterms:modified xsi:type="dcterms:W3CDTF">2025-11-11T07:01:02Z</dcterms:modified>
</cp:coreProperties>
</file>